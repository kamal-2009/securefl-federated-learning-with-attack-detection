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74" r:id="rId5"/>
    <p:sldId id="275" r:id="rId6"/>
    <p:sldId id="276" r:id="rId7"/>
    <p:sldId id="258" r:id="rId8"/>
    <p:sldId id="277" r:id="rId9"/>
    <p:sldId id="279" r:id="rId10"/>
    <p:sldId id="278" r:id="rId11"/>
    <p:sldId id="259" r:id="rId12"/>
    <p:sldId id="280" r:id="rId13"/>
    <p:sldId id="260" r:id="rId14"/>
    <p:sldId id="281" r:id="rId15"/>
    <p:sldId id="261" r:id="rId16"/>
    <p:sldId id="288" r:id="rId17"/>
    <p:sldId id="292" r:id="rId18"/>
    <p:sldId id="268" r:id="rId19"/>
    <p:sldId id="293" r:id="rId20"/>
    <p:sldId id="294" r:id="rId21"/>
    <p:sldId id="297" r:id="rId22"/>
    <p:sldId id="295" r:id="rId23"/>
    <p:sldId id="298" r:id="rId24"/>
    <p:sldId id="299" r:id="rId25"/>
    <p:sldId id="300" r:id="rId26"/>
    <p:sldId id="296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26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21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84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15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1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4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78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6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03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18C5A-B26D-451D-BBAC-91690EA95A9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12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18C5A-B26D-451D-BBAC-91690EA95A9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A406F-9A25-4478-8552-564AEA288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2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rgbClr val="0000FF"/>
                </a:solidFill>
              </a:rPr>
              <a:t>Beyond Hijacking: A Robust Defense Framework Against Prompt-Based Attacks in Federated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55612"/>
          </a:xfrm>
        </p:spPr>
        <p:txBody>
          <a:bodyPr/>
          <a:lstStyle/>
          <a:p>
            <a:r>
              <a:rPr lang="en-US" dirty="0"/>
              <a:t>FYP Defense Presentation By </a:t>
            </a:r>
            <a:r>
              <a:rPr lang="en-US" dirty="0">
                <a:solidFill>
                  <a:srgbClr val="0000FF"/>
                </a:solidFill>
              </a:rPr>
              <a:t>BSCS-F25-019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608675"/>
              </p:ext>
            </p:extLst>
          </p:nvPr>
        </p:nvGraphicFramePr>
        <p:xfrm>
          <a:off x="584200" y="4149725"/>
          <a:ext cx="11023600" cy="1112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51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03-134222-022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Bisma Amjad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03-134222-044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Maida Maryam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03-134222-040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Laiba Iqbal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167172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37" y="297180"/>
            <a:ext cx="40481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4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A01E4-CF76-4715-1EF5-5F2C24E4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 Mapping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01301B-86A2-2251-4679-0F46D709EE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4564956"/>
              </p:ext>
            </p:extLst>
          </p:nvPr>
        </p:nvGraphicFramePr>
        <p:xfrm>
          <a:off x="924791" y="1892011"/>
          <a:ext cx="10429008" cy="46008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0551">
                  <a:extLst>
                    <a:ext uri="{9D8B030D-6E8A-4147-A177-3AD203B41FA5}">
                      <a16:colId xmlns:a16="http://schemas.microsoft.com/office/drawing/2014/main" val="1414600277"/>
                    </a:ext>
                  </a:extLst>
                </a:gridCol>
                <a:gridCol w="3119405">
                  <a:extLst>
                    <a:ext uri="{9D8B030D-6E8A-4147-A177-3AD203B41FA5}">
                      <a16:colId xmlns:a16="http://schemas.microsoft.com/office/drawing/2014/main" val="1395363239"/>
                    </a:ext>
                  </a:extLst>
                </a:gridCol>
                <a:gridCol w="3119405">
                  <a:extLst>
                    <a:ext uri="{9D8B030D-6E8A-4147-A177-3AD203B41FA5}">
                      <a16:colId xmlns:a16="http://schemas.microsoft.com/office/drawing/2014/main" val="513562264"/>
                    </a:ext>
                  </a:extLst>
                </a:gridCol>
                <a:gridCol w="3709647">
                  <a:extLst>
                    <a:ext uri="{9D8B030D-6E8A-4147-A177-3AD203B41FA5}">
                      <a16:colId xmlns:a16="http://schemas.microsoft.com/office/drawing/2014/main" val="2900353962"/>
                    </a:ext>
                  </a:extLst>
                </a:gridCol>
              </a:tblGrid>
              <a:tr h="3773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CLO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PLO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Description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Specified Aspects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596387057"/>
                  </a:ext>
                </a:extLst>
              </a:tr>
              <a:tr h="5692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CLO1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D2DEEF"/>
                          </a:highlight>
                        </a:rPr>
                        <a:t>PLO3:Problem Analysis</a:t>
                      </a:r>
                      <a:endParaRPr lang="en-US" sz="1100" kern="10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D2DEEF"/>
                          </a:highlight>
                        </a:rPr>
                        <a:t>Analyze the given problem to propose a computing-based solution.</a:t>
                      </a:r>
                      <a:endParaRPr lang="en-US" sz="1100" kern="10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1100" dirty="0">
                          <a:highlight>
                            <a:srgbClr val="D2DEEF"/>
                          </a:highlight>
                        </a:rPr>
                        <a:t>Identify prompt injection risks in FL, analyze malicious client behavior</a:t>
                      </a:r>
                      <a:endParaRPr lang="en-US" sz="1100" kern="100" dirty="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3319985262"/>
                  </a:ext>
                </a:extLst>
              </a:tr>
              <a:tr h="7869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CLO2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EAEFF7"/>
                          </a:highlight>
                        </a:rPr>
                        <a:t>PLO4:Design and Development of Solutions</a:t>
                      </a:r>
                      <a:endParaRPr lang="en-US" sz="1100" kern="10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EAEFF7"/>
                          </a:highlight>
                        </a:rPr>
                        <a:t>Design and develop computing solutions to complex computing problems.</a:t>
                      </a:r>
                      <a:endParaRPr lang="en-US" sz="1100" kern="10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1100" dirty="0">
                          <a:highlight>
                            <a:srgbClr val="EAEFF7"/>
                          </a:highlight>
                        </a:rPr>
                        <a:t>Develop </a:t>
                      </a:r>
                      <a:r>
                        <a:rPr lang="en-US" sz="1100" dirty="0" err="1">
                          <a:highlight>
                            <a:srgbClr val="EAEFF7"/>
                          </a:highlight>
                        </a:rPr>
                        <a:t>SecureFL</a:t>
                      </a:r>
                      <a:r>
                        <a:rPr lang="en-US" sz="1100" dirty="0">
                          <a:highlight>
                            <a:srgbClr val="EAEFF7"/>
                          </a:highlight>
                        </a:rPr>
                        <a:t> framework with multi-layer defense mechanisms</a:t>
                      </a:r>
                      <a:endParaRPr lang="en-US" sz="1100" kern="100" dirty="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1096405850"/>
                  </a:ext>
                </a:extLst>
              </a:tr>
              <a:tr h="5692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CLO3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D2DEEF"/>
                          </a:highlight>
                        </a:rPr>
                        <a:t>PLO5:Modern Tool Usage</a:t>
                      </a:r>
                      <a:endParaRPr lang="en-US" sz="1100" kern="10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D2DEEF"/>
                          </a:highlight>
                        </a:rPr>
                        <a:t>Demonstrate the ability to use modern tools to solve the given problem.</a:t>
                      </a:r>
                      <a:endParaRPr lang="en-US" sz="1100" kern="10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1100" dirty="0">
                          <a:highlight>
                            <a:srgbClr val="D2DEEF"/>
                          </a:highlight>
                        </a:rPr>
                        <a:t>Use Python, federated learning frameworks, ML models, evaluation metrics</a:t>
                      </a:r>
                      <a:endParaRPr lang="en-US" sz="1100" kern="100" dirty="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4151319833"/>
                  </a:ext>
                </a:extLst>
              </a:tr>
              <a:tr h="5692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CLO4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EAEFF7"/>
                          </a:highlight>
                        </a:rPr>
                        <a:t>PLO6:Individual and Team Work</a:t>
                      </a:r>
                      <a:endParaRPr lang="en-US" sz="1100" kern="10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EAEFF7"/>
                          </a:highlight>
                        </a:rPr>
                        <a:t>Demonstrate the ability to work effectively as an individual and a team member.</a:t>
                      </a:r>
                      <a:endParaRPr lang="en-US" sz="1100" kern="10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1100" dirty="0">
                          <a:highlight>
                            <a:srgbClr val="EAEFF7"/>
                          </a:highlight>
                        </a:rPr>
                        <a:t>Collaborative development, task distribution, integration of modules</a:t>
                      </a:r>
                      <a:endParaRPr lang="en-US" sz="1100" kern="100" dirty="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1188056806"/>
                  </a:ext>
                </a:extLst>
              </a:tr>
              <a:tr h="7869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CLO5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  <a:highlight>
                            <a:srgbClr val="D2DEEF"/>
                          </a:highlight>
                        </a:rPr>
                        <a:t>PLO10:Life Long Learning</a:t>
                      </a:r>
                      <a:endParaRPr lang="en-US" sz="1100" kern="100" dirty="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D2DEEF"/>
                          </a:highlight>
                        </a:rPr>
                        <a:t>Understand the significance of broader aspects of innovation, potential legal implications, and development.</a:t>
                      </a:r>
                      <a:endParaRPr lang="en-US" sz="1100" kern="10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1100" dirty="0">
                          <a:highlight>
                            <a:srgbClr val="D2DEEF"/>
                          </a:highlight>
                        </a:rPr>
                        <a:t>Explore AI security challenges, ethical risks, future improvements</a:t>
                      </a:r>
                      <a:endParaRPr lang="en-US" sz="1100" kern="100" dirty="0">
                        <a:effectLst/>
                        <a:highlight>
                          <a:srgbClr val="D2DEEF"/>
                        </a:highlight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457111075"/>
                  </a:ext>
                </a:extLst>
              </a:tr>
              <a:tr h="9419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5B9BD5"/>
                          </a:highlight>
                        </a:rPr>
                        <a:t>CLO6</a:t>
                      </a:r>
                      <a:endParaRPr lang="en-US" sz="1100" kern="100">
                        <a:effectLst/>
                        <a:highlight>
                          <a:srgbClr val="5B9BD5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EAEFF7"/>
                          </a:highlight>
                        </a:rPr>
                        <a:t>PLO7:Communication</a:t>
                      </a:r>
                      <a:endParaRPr lang="en-US" sz="1100" kern="10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highlight>
                            <a:srgbClr val="EAEFF7"/>
                          </a:highlight>
                        </a:rPr>
                        <a:t>Demonstrate effective skills in verbal and written communication during presentations, discussions, and reports.</a:t>
                      </a:r>
                      <a:endParaRPr lang="en-US" sz="1100" kern="10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US" sz="1100" dirty="0">
                          <a:highlight>
                            <a:srgbClr val="EAEFF7"/>
                          </a:highlight>
                        </a:rPr>
                        <a:t>Technical documentation, final report, defense presentation</a:t>
                      </a:r>
                      <a:endParaRPr lang="en-US" sz="1100" kern="100" dirty="0">
                        <a:effectLst/>
                        <a:highlight>
                          <a:srgbClr val="EAEFF7"/>
                        </a:highlight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0" marR="8890" marT="8890" marB="8890" anchor="b"/>
                </a:tc>
                <a:extLst>
                  <a:ext uri="{0D108BD9-81ED-4DB2-BD59-A6C34878D82A}">
                    <a16:rowId xmlns:a16="http://schemas.microsoft.com/office/drawing/2014/main" val="2687756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6670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Abstract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29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664FB-647E-761F-F485-11CA10C0F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What</a:t>
            </a:r>
            <a:endParaRPr lang="en-PK" sz="40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7BC7D-8039-263D-45D4-F7CD5327C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Secure federated learning framework </a:t>
            </a:r>
          </a:p>
          <a:p>
            <a:r>
              <a:rPr lang="en-US" sz="2000" dirty="0"/>
              <a:t>Detect malicious client updates </a:t>
            </a:r>
          </a:p>
          <a:p>
            <a:r>
              <a:rPr lang="en-US" sz="2000" dirty="0"/>
              <a:t>Handle prompt injection attacks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1435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9792C-A927-B1E3-6E91-03E7173EB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WHY</a:t>
            </a:r>
            <a:endParaRPr lang="en-PK" sz="40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4094E-8CE1-D0E4-EC6D-D845D8D88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AI systems widely deployed </a:t>
            </a:r>
          </a:p>
          <a:p>
            <a:r>
              <a:rPr lang="en-US" sz="2000" dirty="0"/>
              <a:t>Increasing security vulnerabilities </a:t>
            </a:r>
          </a:p>
          <a:p>
            <a:r>
              <a:rPr lang="en-US" sz="2000" dirty="0"/>
              <a:t>Prompt injection manipulates models </a:t>
            </a:r>
          </a:p>
          <a:p>
            <a:r>
              <a:rPr lang="en-US" sz="2000" dirty="0"/>
              <a:t>FL vulnerable to hidden attacks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1662346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CA4B0-B29E-D970-95BC-D1F531D34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r>
              <a:rPr lang="en-US" sz="4000" b="1"/>
              <a:t>HOW</a:t>
            </a:r>
            <a:endParaRPr lang="en-PK" sz="4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BFFC4-2424-BEC4-1D1E-0F73E6A5D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r>
              <a:rPr lang="en-US" sz="2000" dirty="0"/>
              <a:t>Multi-layer defense mechanism </a:t>
            </a:r>
          </a:p>
          <a:p>
            <a:r>
              <a:rPr lang="en-US" sz="2000" dirty="0"/>
              <a:t>Cosine similarity analysis </a:t>
            </a:r>
          </a:p>
          <a:p>
            <a:r>
              <a:rPr lang="en-US" sz="2000" dirty="0"/>
              <a:t>Statistical anomaly detection </a:t>
            </a:r>
          </a:p>
          <a:p>
            <a:r>
              <a:rPr lang="en-US" sz="2000" dirty="0"/>
              <a:t>Trust-based client scoring </a:t>
            </a:r>
          </a:p>
          <a:p>
            <a:r>
              <a:rPr lang="en-US" sz="2000" dirty="0"/>
              <a:t>Secure aggregation strategy</a:t>
            </a:r>
            <a:endParaRPr lang="en-PK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02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Objectives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533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5645C14B-9537-E41A-17E4-F48FAB7188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87" r="270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BB966-A633-8E3A-3515-6EA2754FF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700" dirty="0"/>
              <a:t>To detect malicious client updates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dirty="0"/>
              <a:t>To prevent prompt injection attacks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dirty="0"/>
              <a:t>To design trust-based detection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dirty="0"/>
              <a:t>To implement similarity-based filtering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dirty="0"/>
              <a:t>To evaluate model performance and security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700" dirty="0"/>
              <a:t>To develop real-time monitoring dashboard</a:t>
            </a:r>
            <a:endParaRPr lang="en-PK" sz="1700" dirty="0"/>
          </a:p>
        </p:txBody>
      </p:sp>
    </p:spTree>
    <p:extLst>
      <p:ext uri="{BB962C8B-B14F-4D97-AF65-F5344CB8AC3E}">
        <p14:creationId xmlns:p14="http://schemas.microsoft.com/office/powerpoint/2010/main" val="284709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2F0A4-34E5-B19C-E816-A24DF7BCE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4A71-DE0A-6E13-3118-D9992B4E1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Deliverable and Beneficiaries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0E220-564E-D1F3-8BE1-4C6B34CEB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345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4BA10-EC72-F75D-D3BE-117F3F167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4EE32-6CD4-61A4-BF6A-44B67CF6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/>
              <a:t>Deliverables</a:t>
            </a:r>
          </a:p>
        </p:txBody>
      </p:sp>
      <p:pic>
        <p:nvPicPr>
          <p:cNvPr id="15" name="Graphic 14" descr="Gears">
            <a:extLst>
              <a:ext uri="{FF2B5EF4-FFF2-40B4-BE49-F238E27FC236}">
                <a16:creationId xmlns:a16="http://schemas.microsoft.com/office/drawing/2014/main" id="{879ACA63-F3D5-1C2D-BBA8-79D09BCE07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ED374-516F-BD12-B362-509863AE9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r>
              <a:rPr lang="en-US" sz="2000" dirty="0"/>
              <a:t>Following are the deliverables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/>
              <a:t>SecureFL </a:t>
            </a:r>
            <a:r>
              <a:rPr lang="en-US" sz="2000" dirty="0"/>
              <a:t>defense framework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Federated learning training system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Malicious client detection module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Real-time monitoring dashboard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Experimental evaluation results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B2AFEB-987B-1DBD-5507-B31C9628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28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/>
              <a:t>Beneficiaries</a:t>
            </a:r>
          </a:p>
        </p:txBody>
      </p:sp>
      <p:pic>
        <p:nvPicPr>
          <p:cNvPr id="23" name="Graphic 22" descr="Users">
            <a:extLst>
              <a:ext uri="{FF2B5EF4-FFF2-40B4-BE49-F238E27FC236}">
                <a16:creationId xmlns:a16="http://schemas.microsoft.com/office/drawing/2014/main" id="{328131B9-A934-B738-E5BB-FF04ADCA0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r>
              <a:rPr lang="en-US" sz="2000"/>
              <a:t>Following are the beneficiaries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/>
              <a:t>AI researchers and developers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/>
              <a:t>Cybersecurity analysts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/>
              <a:t>Organizations using federated learning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/>
              <a:t>Distributed AI system users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/>
              <a:t>Academic and research community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08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inoculars looking out on island lighthouse">
            <a:extLst>
              <a:ext uri="{FF2B5EF4-FFF2-40B4-BE49-F238E27FC236}">
                <a16:creationId xmlns:a16="http://schemas.microsoft.com/office/drawing/2014/main" id="{5EE084A1-073E-3CF7-8D72-6563FF6FF3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E3A143-90CF-618F-15C9-CCE97DB08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>
                <a:solidFill>
                  <a:srgbClr val="FFFFFF"/>
                </a:solidFill>
              </a:rPr>
              <a:t>Scope</a:t>
            </a:r>
          </a:p>
        </p:txBody>
      </p:sp>
    </p:spTree>
    <p:extLst>
      <p:ext uri="{BB962C8B-B14F-4D97-AF65-F5344CB8AC3E}">
        <p14:creationId xmlns:p14="http://schemas.microsoft.com/office/powerpoint/2010/main" val="120726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r>
              <a:rPr lang="en-US" sz="2000"/>
              <a:t>PRIMARY</a:t>
            </a:r>
          </a:p>
          <a:p>
            <a:pPr lvl="1"/>
            <a:r>
              <a:rPr lang="en-US" sz="2000"/>
              <a:t>Secure federated learning system </a:t>
            </a:r>
          </a:p>
          <a:p>
            <a:pPr lvl="1"/>
            <a:r>
              <a:rPr lang="en-US" sz="2000"/>
              <a:t>Detect malicious client updates </a:t>
            </a:r>
          </a:p>
          <a:p>
            <a:pPr lvl="1"/>
            <a:r>
              <a:rPr lang="en-US" sz="2000"/>
              <a:t>Handle prompt injection attacks </a:t>
            </a:r>
          </a:p>
          <a:p>
            <a:pPr lvl="1"/>
            <a:r>
              <a:rPr lang="en-US" sz="2000"/>
              <a:t>Trust-based aggregation mechanism </a:t>
            </a:r>
          </a:p>
          <a:p>
            <a:pPr lvl="1"/>
            <a:r>
              <a:rPr lang="en-US" sz="2000"/>
              <a:t>Real-time monitoring and alerting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85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BC870-4956-C306-DA01-72506D750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3F95C6-D45B-7775-6A3C-B7F917A76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4A7FBD-E2FC-81F3-FE7E-106837C04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9283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54000">
                <a:schemeClr val="accent1">
                  <a:lumMod val="5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EAF629-CE7B-74DD-E312-9A4E9873D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6610" y="5269283"/>
            <a:ext cx="12208610" cy="1590742"/>
          </a:xfrm>
          <a:prstGeom prst="rect">
            <a:avLst/>
          </a:prstGeom>
          <a:gradFill>
            <a:gsLst>
              <a:gs pos="18000">
                <a:schemeClr val="accent1">
                  <a:lumMod val="75000"/>
                  <a:alpha val="0"/>
                </a:schemeClr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0597C9-21D5-5418-F680-309186D85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98694" y="5267258"/>
            <a:ext cx="4093306" cy="1590742"/>
          </a:xfrm>
          <a:prstGeom prst="rect">
            <a:avLst/>
          </a:prstGeom>
          <a:gradFill>
            <a:gsLst>
              <a:gs pos="23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DAE884-9C6F-D288-60AA-8E9C8EC64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669" y="5267258"/>
            <a:ext cx="12198669" cy="1131515"/>
          </a:xfrm>
          <a:prstGeom prst="rect">
            <a:avLst/>
          </a:prstGeom>
          <a:gradFill>
            <a:gsLst>
              <a:gs pos="18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5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A688D7-014E-2B21-D74E-BE1C89A60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6607" y="5278400"/>
            <a:ext cx="7736926" cy="1590741"/>
          </a:xfrm>
          <a:prstGeom prst="rect">
            <a:avLst/>
          </a:prstGeom>
          <a:gradFill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41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44F5F-671C-6790-3663-B3E097CEF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210" y="824249"/>
            <a:ext cx="9654076" cy="3837904"/>
          </a:xfrm>
        </p:spPr>
        <p:txBody>
          <a:bodyPr anchor="ctr">
            <a:normAutofit/>
          </a:bodyPr>
          <a:lstStyle/>
          <a:p>
            <a:r>
              <a:rPr lang="en-US" sz="2000" dirty="0"/>
              <a:t>OPTIONAL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Cross-dataset evaluation setup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Scalable real-world deployment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Handling complex attack scenarios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2F56CF-897F-1905-694D-A7CDDB883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251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SRS / Literature Review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805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5858FC-560B-3979-6C0F-00A156E1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Existing Research Focus 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A865BDD-FFAA-1820-E48A-E80762A40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6397" y="2418408"/>
            <a:ext cx="4959603" cy="35225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Prompt injection in LLMs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Byzantine robust aggregation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Federated poisoning defenses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Trust-based client selection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78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BAA69-6F79-410D-89E1-7F807082E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32633A1-FF65-189A-5716-9331E7B80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C46562-B39F-242D-E751-1D0FC18CD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</a:t>
            </a:r>
            <a:r>
              <a:rPr lang="en-US" sz="4000" dirty="0"/>
              <a:t>search Gap 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8D35672-B44D-2105-4D3A-15474E204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6397" y="2418408"/>
            <a:ext cx="4959603" cy="35225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No unified defense framework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 Limited prompt level protection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Lack of runtime monitoring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Weak integration with federated learning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4BC12A-72F4-1520-D153-BF797A6E9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A491742-09B7-DF95-3ED3-E67B17F5C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timeline&#10;&#10;AI-generated content may be incorrect.">
            <a:extLst>
              <a:ext uri="{FF2B5EF4-FFF2-40B4-BE49-F238E27FC236}">
                <a16:creationId xmlns:a16="http://schemas.microsoft.com/office/drawing/2014/main" id="{341772C1-68E8-BDBA-685D-B5A79C8C39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79" b="6002"/>
          <a:stretch>
            <a:fillRect/>
          </a:stretch>
        </p:blipFill>
        <p:spPr bwMode="auto">
          <a:xfrm>
            <a:off x="6306532" y="1273049"/>
            <a:ext cx="5422134" cy="431190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DC6CCB-538A-B076-F6DB-3F763833C39D}"/>
              </a:ext>
            </a:extLst>
          </p:cNvPr>
          <p:cNvSpPr txBox="1"/>
          <p:nvPr/>
        </p:nvSpPr>
        <p:spPr>
          <a:xfrm>
            <a:off x="6485641" y="5584950"/>
            <a:ext cx="5137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Figure 1: Research Timeline in AI Security through the Years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18237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442" y="921715"/>
            <a:ext cx="5163022" cy="26359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SDS / Methodology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 descr="Gears">
            <a:extLst>
              <a:ext uri="{FF2B5EF4-FFF2-40B4-BE49-F238E27FC236}">
                <a16:creationId xmlns:a16="http://schemas.microsoft.com/office/drawing/2014/main" id="{26A8A8CE-E2E0-AC68-8B69-0666AC4170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413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22BBA5-56E1-28DA-6A8D-317CA2F85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CA51F38-8698-5377-D1F4-0FF6B6F09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07EBE-1D88-C012-D07C-12D476C1D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 err="1"/>
              <a:t>SecureFL</a:t>
            </a:r>
            <a:r>
              <a:rPr lang="en-US" sz="4000" dirty="0"/>
              <a:t> Architecture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1F71124-3B4B-3144-A96A-FA3919BAD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6397" y="2418408"/>
            <a:ext cx="4959603" cy="35225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Federated client-server environment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Multi-layer defense mechanism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Similarity based anomaly detection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 Trust score evaluation system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Secure aggregation process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FF6E16-6EF0-7B9F-C025-E800DE2B0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DF327B-0B71-AFF8-B8BB-D7A2EBB58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91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864BA-8164-FF25-F9E4-1B94DDB4B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4605B0D-B9A7-FB22-FDA7-17DD3D67C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3488C-BF99-6EB8-4C2E-1A57550CF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Core Security Features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172885-13E0-33EC-0DF9-5C7AEE262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6397" y="2418408"/>
            <a:ext cx="4959603" cy="35225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Cosine similarity analysis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 Z-score statistical filtering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Historical </a:t>
            </a:r>
            <a:r>
              <a:rPr lang="en-US" sz="2000" dirty="0" err="1"/>
              <a:t>behaviour</a:t>
            </a:r>
            <a:r>
              <a:rPr lang="en-US" sz="2000" dirty="0"/>
              <a:t> tracking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Differential privacy support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B53D4C-8521-46F7-8F4E-6121524F2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889D8F-806B-8D72-45DB-6E99A0560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782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831509-1FB0-D6DA-BB37-A65C7C85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09D08E8-EC30-69D1-7264-392C79EB0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D2C210-BE60-7A96-738E-462131358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8C6C16-EC4C-3557-6549-E4A1B91E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FC73BD-5479-1257-CAEC-57999ED69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C73D29-683D-0C66-5651-56A80453D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8C9E95-C14F-3A00-6616-441010F01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2DE9C49-E3E4-D3E2-5158-503CAFD72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0AC5A-322A-DFE7-D302-7919E00B5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Experimental Setup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3E0D01-CC83-E180-59C1-3F06BA0FA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AE663-FA8F-691E-C7C7-7D39750DE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97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F25371-3CD3-6897-2047-2F5D73F3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200E348-9305-277B-1E60-A9E19AF12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7ABF3-7BCA-D329-5329-9016767F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Experiment 1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6EE9043-B19A-98A2-0BA9-6CC321C87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6397" y="2226366"/>
            <a:ext cx="4959603" cy="371461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Prompt Injection in the Wild dataset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Real-world adversarial scenarios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Baseline vs </a:t>
            </a:r>
            <a:r>
              <a:rPr lang="en-US" sz="2000" dirty="0" err="1"/>
              <a:t>SecureFL</a:t>
            </a:r>
            <a:r>
              <a:rPr lang="en-US" sz="2000" dirty="0"/>
              <a:t> comparison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09427F-41AA-6FCB-F260-575C4F5C8D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57A3-BDC2-C47C-0513-ECE3A8339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707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4F236E-B7F7-E5E9-F9D8-4E9BF1C1C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E617D2E-6D6B-C238-594E-06DD0E35F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6E1507-152F-0161-21DA-D4C12FC0E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Experiment </a:t>
            </a:r>
            <a:r>
              <a:rPr lang="en-US" sz="4000" dirty="0"/>
              <a:t>2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C041D6A-D287-92A2-E22E-E762041D2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6397" y="2226366"/>
            <a:ext cx="4959603" cy="371461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PIDTC for training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PIDEC for testing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Cross-dataset evaluation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39E3F9-AB6B-8E3A-A9F5-F684E56D5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FFDE5E-FB06-26E5-02AC-6A5F90C1B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69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AC338-F46A-506C-76AD-DFFE8779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E626149-5146-982A-C12F-05CD8619F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A4101-F24F-7908-89C5-7586F0FAD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</a:t>
            </a:r>
            <a:r>
              <a:rPr lang="en-US" sz="4000" dirty="0"/>
              <a:t>valuation metrics 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26DDBB1-D13F-7B32-D4B6-C9714DCC3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6397" y="2226366"/>
            <a:ext cx="4959603" cy="371461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Accuracy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Precision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Recall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F1-Score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Attack Success Rate (ASR)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D0AAAC-32AD-FC1F-A3D8-0B03F30D6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69FA57-387C-014F-EFF8-E9F062892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5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DB3AD6-1852-4A5E-E72B-E064F5967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20C9338-82BD-051F-3F4C-9D8FEAEC5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48B29F-CD63-0E97-F340-375ACC870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40FC35-F757-329B-DFBB-61D176F98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A79472-903E-D31C-9EDE-81A5CA74E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FD7CDD-73A3-6CB2-AC3F-AC7834FBE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E2330C-B18D-01FD-1F2D-F9623F025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B8E7903-DC16-DFC9-6496-81CF10BBB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FB79F-1357-A7CA-5B1A-868C42634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Implementation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DC22CA-2E4D-597E-0BEF-57BF01372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929AF0-A975-D102-89C2-2B06EE391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755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18F18E-D3DA-1CCC-9F79-8AABDD761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5EDA0FD-4A64-76F9-03DD-9E131A115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85FBA-1ADB-4430-AB53-F9149F815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Components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AC06F2-64C7-FCA0-5F13-B5A90E877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6397" y="2226366"/>
            <a:ext cx="4959603" cy="3714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Federated server module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Secure aggregation layer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Trust evaluation engine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Dashboard visualization system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Alert and monitoring module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670A31-C90C-273B-54D9-8C97A6CEB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9EC0E6-7088-7895-4636-11B052B34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6032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A7492-255B-B27A-456D-2394A1CB8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DE42E63-54D4-F951-53F7-E2D28CAAC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A5DDAB-4EFD-C4D6-64F9-3A8749F03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Security Mechanisms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9FA1C9-4C3C-76D4-8FF1-3CF4A0D82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6397" y="2226366"/>
            <a:ext cx="4959603" cy="3714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Gradient clipping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 Dynamic trust weighting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/>
              <a:t> Statistical anomaly detection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 err="1"/>
              <a:t>Behaviour</a:t>
            </a:r>
            <a:r>
              <a:rPr lang="en-US" sz="2000" dirty="0"/>
              <a:t> consistency analysis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238C37-7CE8-BFD8-C0E2-3488CB9DC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5B8A72-4FA9-1E2A-B360-26DA59D1E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64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16E21-2849-E224-4DDA-8C9270900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AC4D98D-F164-33C8-6279-099E9F82A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39F4CC-4BBB-D5DD-F7D7-616A1365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3055B3-D8FC-6E83-C8D5-A62011535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70226F-2803-58BE-5062-BA8FC41F5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6829EF-E281-8965-AD1C-0393465AA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A1178D-10D4-D76E-B192-5E497A137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C012E7B-6863-1980-6CFD-7EB9F86E6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46C389-658E-26F0-48AE-4C58F850E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Results and Discussion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6E420C-DBA3-BA28-3D94-03E57F396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1CBFBF-CC8F-98F5-D719-C32457982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273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E10A33-CC96-6590-0BD5-BD322743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8DBF80B-640A-93BA-B0B0-46E59CF62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1F53D2-2328-5B85-AEBB-62667A653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Observed Results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45589B-9AE3-E9DC-1512-72E5C561C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6397" y="2226366"/>
            <a:ext cx="4959603" cy="3714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Improved detection accuracy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Reduced malicious client influence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Lower attack success rate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Better model reliability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Enhanced aggregation robustness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BD4556-F619-EE67-6CAE-3BE7E771C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3AFD0E-8431-2C58-72B8-D1772A1B2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92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DED35-92DA-55EE-93A6-763861C8C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70F1FAF-2572-A00A-3218-5055C5863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1F0CE-CE77-4022-F3E9-1634011B4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Comparative Findings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6A2C09E-FF7B-B6DD-1B0C-9C2BDDA1A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6397" y="2226366"/>
            <a:ext cx="4959603" cy="3714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 err="1"/>
              <a:t>SecureFL</a:t>
            </a:r>
            <a:r>
              <a:rPr lang="en-US" dirty="0"/>
              <a:t> outperformed baseline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 Advanced model more resilient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Trust-aware filtering effective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18AD0E-37EE-7D79-9E18-153696C5E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C83B19-381A-12DB-EA8B-9E942C8D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6456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8771B-906A-2539-03B3-2B99F1A84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E49F7F5-9758-6F50-362C-A2424B895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469E2B-0A67-5F48-9CBD-51484B078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76A356-B4F7-B61D-8CD4-FD1140B24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75B7B1-C035-AC9F-81F4-93647C15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045FFB-7460-C3A4-85B4-E0E05E0BC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E7BD2A-71DD-8308-E916-A0813D807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DBD05CC-D5FE-A9B0-1D7E-8875252CC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83B1C-6D04-BE95-A080-EAB38427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System Impact and Applications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23F70D-D852-3A3B-2FA7-5F4FFA3E0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53AE44-9D79-ACE3-188F-CBAC14966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517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09017-E011-681B-DAF2-8A27BACB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223C9B5-FBE0-34A0-0103-FB6B74F4F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07E2F7-2A71-185B-53B3-E15E2F5D8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Real World Applications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C5684C0-2A9D-C049-094A-75103B198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6397" y="2226366"/>
            <a:ext cx="4959603" cy="3714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Healthcare AI systems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Smart banking systems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 Autonomous AI platforms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Distributed enterprise systems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 Secure collaborative learning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FF596C-0B87-3660-085B-6ED39F615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CD411F-EF8F-4BB3-00B1-4774CC0F3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502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05BA3-AE78-0C5D-1F30-C6D79485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A30030C-0635-8319-8110-F61A4C060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57379-1073-EA61-E19E-844E2D9A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Benefits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E210AFB-FD0D-DFA1-4649-67C5E36DE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6397" y="2226366"/>
            <a:ext cx="4959603" cy="3714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Improved AI security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Better client trust management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 Real-time attack monitoring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 Enhanced model transparency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24F20A-2598-D076-D376-D4F82A468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C35105-BC65-5B36-EEA0-7498BFAF0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564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AE543-BCC3-AE1D-F521-1E72E7895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0410911-443A-FF54-6CE1-06F4AA51A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A035D9-B49F-A88F-A566-AF20CE5B0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D875AC-543F-8BEE-B52D-38E94809A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F7840B-C272-CC12-02A4-EC8F90C9A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AE57AB-6D8D-F68F-E862-A6B3F4C26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9E89D7-FA7E-0806-D91D-8E1EB03C8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E070783-58BA-FB2C-E5C5-39696654B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D4DEBD-4FD8-7692-6B06-C49D50148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Conclusion and Recommendations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C81CCA-5576-A9D4-65D5-E1EE8F421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E0EC9F-E658-169E-E294-A19DFBAF3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97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578BC-C992-1C7B-F887-9369A8093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D62791F-D0D1-D462-03EC-B6FCFE29E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CC18A1-4C93-1EF2-3A84-7FB92C802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6D9785-3485-DED1-5559-31AF2B00E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6397" y="2226366"/>
            <a:ext cx="4959603" cy="3714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 err="1"/>
              <a:t>SecureFL</a:t>
            </a:r>
            <a:r>
              <a:rPr lang="en-US" dirty="0"/>
              <a:t> successfully detects attacks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 Trust-aware aggregation improves security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 Multi-layer defense enhances reliability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 Real-time monitoring increases transparency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10E2A9-CD50-8533-8F00-0CCE2B5BB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761546-56B2-9B1D-7596-FC6998722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213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2BEF6A-2D1E-2E2C-9A03-8D33121F4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DEF0AF1-5386-4B44-1352-AFA778BE9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05F6C7-4B57-B3C7-C578-E42164645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4959603" cy="16429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Recommendations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8CF2513-C00D-D2E2-C0D6-F36467DFB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36397" y="2226366"/>
            <a:ext cx="4959603" cy="37146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 in real-world FL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larger client environments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Extend to advanced attack patterns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adaptive defense intelligence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DC4E08-A8EA-AB10-5881-E68C59E39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D5220D-D9A2-9A83-D684-629FCC49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465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515A96-2C76-B428-6893-3BB32758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DB8C96D-B9D3-7525-5767-9E578CB47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000C48-D355-965F-21C2-610C235A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A0864B-4F35-A1AE-02A8-B9EE194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721E59-88A7-9712-A362-4E7DE3D4E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7CC6EF-4DBE-AD68-5AD6-7F4669C3C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455C5A-1960-F369-EFEB-1E50406FB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BEE7125-D09E-BF04-788A-18322F562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0B2897-0677-977F-239F-539EA1C4A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Thank You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ECCF31-2D8E-CF84-1480-CEA5485E8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DE39A1-12E1-5029-2487-1D8AB9BF4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56" y="250985"/>
            <a:ext cx="1985264" cy="5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221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8600" y="3162459"/>
            <a:ext cx="9144000" cy="1579404"/>
          </a:xfrm>
          <a:solidFill>
            <a:schemeClr val="bg2"/>
          </a:solidFill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8600" y="4833938"/>
            <a:ext cx="9144000" cy="455612"/>
          </a:xfrm>
          <a:solidFill>
            <a:schemeClr val="bg2"/>
          </a:solidFill>
        </p:spPr>
        <p:txBody>
          <a:bodyPr/>
          <a:lstStyle/>
          <a:p>
            <a:r>
              <a:rPr lang="en-US" dirty="0"/>
              <a:t>FYP Defense Presentation By </a:t>
            </a:r>
            <a:r>
              <a:rPr lang="en-US" dirty="0" err="1">
                <a:solidFill>
                  <a:srgbClr val="0000FF"/>
                </a:solidFill>
              </a:rPr>
              <a:t>GroupID</a:t>
            </a:r>
            <a:endParaRPr lang="en-US" dirty="0">
              <a:solidFill>
                <a:srgbClr val="0000FF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148351"/>
              </p:ext>
            </p:extLst>
          </p:nvPr>
        </p:nvGraphicFramePr>
        <p:xfrm>
          <a:off x="609600" y="5381625"/>
          <a:ext cx="10922000" cy="111252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546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03-134222-022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Bisma Amjad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03-134222-044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Maida Maryam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rgbClr val="0000FF"/>
                          </a:solidFill>
                        </a:rPr>
                        <a:t>03-134222-040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>
                          <a:solidFill>
                            <a:srgbClr val="0000FF"/>
                          </a:solidFill>
                        </a:rPr>
                        <a:t>Laiba Iqbal</a:t>
                      </a:r>
                      <a:endParaRPr lang="en-US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775291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37" y="297180"/>
            <a:ext cx="4048125" cy="1143000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4254500" y="571500"/>
            <a:ext cx="6388100" cy="10383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Thanks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254500" y="1622583"/>
            <a:ext cx="6388100" cy="14128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Please feel free to:</a:t>
            </a:r>
          </a:p>
          <a:p>
            <a:pPr lvl="1" algn="l"/>
            <a:r>
              <a:rPr lang="en-US" dirty="0"/>
              <a:t>Ask any further details</a:t>
            </a:r>
          </a:p>
          <a:p>
            <a:pPr lvl="1" algn="l"/>
            <a:r>
              <a:rPr lang="en-US" dirty="0"/>
              <a:t>Advise any improvements</a:t>
            </a:r>
          </a:p>
          <a:p>
            <a:pPr algn="l"/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616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676</Words>
  <Application>Microsoft Office PowerPoint</Application>
  <PresentationFormat>Widescreen</PresentationFormat>
  <Paragraphs>187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Office Theme</vt:lpstr>
      <vt:lpstr>Beyond Hijacking: A Robust Defense Framework Against Prompt-Based Attacks in Federated Learning</vt:lpstr>
      <vt:lpstr>CLO Mapping </vt:lpstr>
      <vt:lpstr>Abstract</vt:lpstr>
      <vt:lpstr>What</vt:lpstr>
      <vt:lpstr>WHY</vt:lpstr>
      <vt:lpstr>HOW</vt:lpstr>
      <vt:lpstr>Objectives</vt:lpstr>
      <vt:lpstr>PowerPoint Presentation</vt:lpstr>
      <vt:lpstr>Deliverable and Beneficiaries</vt:lpstr>
      <vt:lpstr>Deliverables</vt:lpstr>
      <vt:lpstr>Beneficiaries</vt:lpstr>
      <vt:lpstr>Scope</vt:lpstr>
      <vt:lpstr>PowerPoint Presentation</vt:lpstr>
      <vt:lpstr>PowerPoint Presentation</vt:lpstr>
      <vt:lpstr>SRS / Literature Review</vt:lpstr>
      <vt:lpstr>Existing Research Focus </vt:lpstr>
      <vt:lpstr>Research Gap </vt:lpstr>
      <vt:lpstr>SDS / Methodology</vt:lpstr>
      <vt:lpstr>SecureFL Architecture</vt:lpstr>
      <vt:lpstr>Core Security Features</vt:lpstr>
      <vt:lpstr>Experimental Setup</vt:lpstr>
      <vt:lpstr>Experiment 1 </vt:lpstr>
      <vt:lpstr>Experiment 2</vt:lpstr>
      <vt:lpstr>Evaluation metrics </vt:lpstr>
      <vt:lpstr>Implementation</vt:lpstr>
      <vt:lpstr>System Components</vt:lpstr>
      <vt:lpstr>Security Mechanisms</vt:lpstr>
      <vt:lpstr>Results and Discussion</vt:lpstr>
      <vt:lpstr>Observed Results </vt:lpstr>
      <vt:lpstr>Comparative Findings </vt:lpstr>
      <vt:lpstr>System Impact and Applications</vt:lpstr>
      <vt:lpstr>Real World Applications </vt:lpstr>
      <vt:lpstr>System Benefits </vt:lpstr>
      <vt:lpstr>Conclusion and Recommendations</vt:lpstr>
      <vt:lpstr>Conclusion </vt:lpstr>
      <vt:lpstr>Recommendations</vt:lpstr>
      <vt:lpstr>Thank You</vt:lpstr>
      <vt:lpstr>Project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Aasim Ali</dc:creator>
  <cp:lastModifiedBy>03-134222-044</cp:lastModifiedBy>
  <cp:revision>22</cp:revision>
  <dcterms:created xsi:type="dcterms:W3CDTF">2018-02-28T13:56:36Z</dcterms:created>
  <dcterms:modified xsi:type="dcterms:W3CDTF">2026-05-07T04:21:46Z</dcterms:modified>
</cp:coreProperties>
</file>